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Poppins Light"/>
      <p:regular r:id="rId14"/>
    </p:embeddedFont>
    <p:embeddedFont>
      <p:font typeface="Poppins Light"/>
      <p:regular r:id="rId15"/>
    </p:embeddedFont>
    <p:embeddedFont>
      <p:font typeface="Poppins Light"/>
      <p:regular r:id="rId16"/>
    </p:embeddedFont>
    <p:embeddedFont>
      <p:font typeface="Poppins Light"/>
      <p:regular r:id="rId17"/>
    </p:embeddedFont>
    <p:embeddedFont>
      <p:font typeface="Roboto Light"/>
      <p:regular r:id="rId18"/>
    </p:embeddedFont>
    <p:embeddedFont>
      <p:font typeface="Roboto Light"/>
      <p:regular r:id="rId19"/>
    </p:embeddedFont>
    <p:embeddedFont>
      <p:font typeface="Roboto Light"/>
      <p:regular r:id="rId20"/>
    </p:embeddedFont>
    <p:embeddedFont>
      <p:font typeface="Roboto Ligh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479358"/>
            <a:ext cx="179070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2F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2554962"/>
            <a:ext cx="15032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CT/2026/SEM I/01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011567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CaseTriage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793790" y="4329946"/>
            <a:ext cx="65090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AI-Powered Legal Backlog Optimisation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0244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Transforming overwhelmed court systems through intelligent, explainable, and fully automated case prioritisation — built for speed, fairness, and judicial accountability.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4664"/>
            <a:ext cx="1472803" cy="426244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92649"/>
            <a:ext cx="12006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41634"/>
            <a:ext cx="59850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Triage Bottleneck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690574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269057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2947868"/>
            <a:ext cx="31902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Overwhelming Volume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438287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Courts are paralysed by thousands of unreviewed, backlogged dockets — with no intelligent system to separate urgent filings from routine ones.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690574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269057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294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Manual Delays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438287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Human sorting is prohibitively slow. Critical legal interventions are deferred for weeks — sometimes months — waiting for a clerk's review.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1110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01110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268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Inconsistent Triage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75881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Manual review is vulnerable to fatigue, cognitive bias, and inconsistent criteria — leading to unpredictable outcomes for litigants.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01110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8067" y="501110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5268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Blind Allocation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75881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Administrators lack macro-level visibility into which case types are flooding their courts, making strategic staffing nearly impossible.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842129"/>
            <a:ext cx="1434584" cy="399812"/>
          </a:xfrm>
          <a:prstGeom prst="roundRect">
            <a:avLst>
              <a:gd name="adj" fmla="val 18169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86301" y="906899"/>
            <a:ext cx="117526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6642" y="1324332"/>
            <a:ext cx="6277094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Introducing CaseTriage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756642" y="2494478"/>
            <a:ext cx="6294834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CaseTriage is an end-to-end automation engine that ingests raw legal filings, scores them with ML, routes them by jurisdiction, and surfaces the most relevant precedents — all without human intervention.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6543" y="2540913"/>
            <a:ext cx="540425" cy="5404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4500" y="2540913"/>
            <a:ext cx="2220635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Automated Routing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384500" y="3422452"/>
            <a:ext cx="2220635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Detects geographic markers in filings and routes cases to US, India, or International backlogs automatically.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2667" y="2540913"/>
            <a:ext cx="540425" cy="5404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60624" y="2540913"/>
            <a:ext cx="222075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Instant Precedent Fetch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1660624" y="3422452"/>
            <a:ext cx="2220754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Queries a vector database in real time to surface the closest historical legal precedent for every new case.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642" y="5912763"/>
            <a:ext cx="540425" cy="5404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599" y="5912763"/>
            <a:ext cx="284047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Zero-Touch Ingestion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554599" y="6374130"/>
            <a:ext cx="5631775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Python Watchdog daemon continuously monitors local file systems and auto-ingests raw case files the moment they arrive.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3907" y="5912763"/>
            <a:ext cx="540425" cy="5404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41863" y="5912763"/>
            <a:ext cx="32240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Algorithmic Prioritisation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8241863" y="6374130"/>
            <a:ext cx="563189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Instantly assigns a mathematically grounded Priority Score (1–100) using a trained ML regression model.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0568" y="457081"/>
            <a:ext cx="1848207" cy="276820"/>
          </a:xfrm>
          <a:prstGeom prst="roundRect">
            <a:avLst>
              <a:gd name="adj" fmla="val 19789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788319" y="505897"/>
            <a:ext cx="165270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0568" y="780693"/>
            <a:ext cx="6490811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Full-Stack Orchestration Pipeline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652" y="1465778"/>
            <a:ext cx="9156978" cy="5726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63415" y="4053903"/>
            <a:ext cx="1887882" cy="632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Recharts Analytics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370776" y="6475053"/>
            <a:ext cx="1887881" cy="63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React + TypeScript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778665" y="4052674"/>
            <a:ext cx="1887881" cy="63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FastAPI + Uvicorn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370776" y="1550321"/>
            <a:ext cx="1887881" cy="63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Python Watchdog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90568" y="7324368"/>
            <a:ext cx="11249144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layer is independently deployable and communicates via a strict REST contract — enabling horizontal scaling of any single component without disrupting the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7685"/>
            <a:ext cx="1527691" cy="300276"/>
          </a:xfrm>
          <a:prstGeom prst="roundRect">
            <a:avLst>
              <a:gd name="adj" fmla="val 1943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427917" y="579715"/>
            <a:ext cx="1319332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DUAL-ENGINE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1063"/>
            <a:ext cx="5023009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Explainable Intelligence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23737" y="1943933"/>
            <a:ext cx="2823329" cy="2774752"/>
          </a:xfrm>
          <a:prstGeom prst="roundRect">
            <a:avLst>
              <a:gd name="adj" fmla="val 262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6597" y="1966793"/>
            <a:ext cx="2777609" cy="520898"/>
          </a:xfrm>
          <a:prstGeom prst="roundRect">
            <a:avLst>
              <a:gd name="adj" fmla="val 8736"/>
            </a:avLst>
          </a:prstGeom>
          <a:solidFill>
            <a:srgbClr val="3D3D42"/>
          </a:solidFill>
          <a:ln/>
        </p:spPr>
      </p:sp>
      <p:sp>
        <p:nvSpPr>
          <p:cNvPr id="7" name="Text 5"/>
          <p:cNvSpPr/>
          <p:nvPr/>
        </p:nvSpPr>
        <p:spPr>
          <a:xfrm>
            <a:off x="2605207" y="2060615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520190" y="262056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Priority Regression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20190" y="3024664"/>
            <a:ext cx="2430423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 XGBoost model evaluates text complexity, legal urgency markers, and filing metadata to produce a calibrated 1–100 Priority Score.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79940" y="1943933"/>
            <a:ext cx="2823329" cy="2774752"/>
          </a:xfrm>
          <a:prstGeom prst="roundRect">
            <a:avLst>
              <a:gd name="adj" fmla="val 262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2800" y="1966793"/>
            <a:ext cx="2777609" cy="520898"/>
          </a:xfrm>
          <a:prstGeom prst="roundRect">
            <a:avLst>
              <a:gd name="adj" fmla="val 8736"/>
            </a:avLst>
          </a:prstGeom>
          <a:solidFill>
            <a:srgbClr val="3D3D42"/>
          </a:solidFill>
          <a:ln/>
        </p:spPr>
      </p:sp>
      <p:sp>
        <p:nvSpPr>
          <p:cNvPr id="12" name="Text 10"/>
          <p:cNvSpPr/>
          <p:nvPr/>
        </p:nvSpPr>
        <p:spPr>
          <a:xfrm>
            <a:off x="5561409" y="2060615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4476393" y="2620566"/>
            <a:ext cx="2430423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Semantic Search via ChromaDB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76393" y="3295888"/>
            <a:ext cx="2430423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Case summaries are embedded into high-dimensional vector space. ChromaDB retrieves the nearest historical precedent by semantic similarity.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23737" y="4851559"/>
            <a:ext cx="2823329" cy="2529483"/>
          </a:xfrm>
          <a:prstGeom prst="roundRect">
            <a:avLst>
              <a:gd name="adj" fmla="val 2884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6597" y="4874419"/>
            <a:ext cx="2777609" cy="520898"/>
          </a:xfrm>
          <a:prstGeom prst="roundRect">
            <a:avLst>
              <a:gd name="adj" fmla="val 8736"/>
            </a:avLst>
          </a:prstGeom>
          <a:solidFill>
            <a:srgbClr val="3D3D42"/>
          </a:solidFill>
          <a:ln/>
        </p:spPr>
      </p:sp>
      <p:sp>
        <p:nvSpPr>
          <p:cNvPr id="17" name="Text 15"/>
          <p:cNvSpPr/>
          <p:nvPr/>
        </p:nvSpPr>
        <p:spPr>
          <a:xfrm>
            <a:off x="2605207" y="4968240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520190" y="552819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SHAP Explainability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20190" y="5932289"/>
            <a:ext cx="243042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SHapley Additive exPlanations mathematically dissect every score — showing exactly which features drove the AI's decision.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79940" y="4851559"/>
            <a:ext cx="2823329" cy="2529483"/>
          </a:xfrm>
          <a:prstGeom prst="roundRect">
            <a:avLst>
              <a:gd name="adj" fmla="val 2884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2800" y="4874419"/>
            <a:ext cx="2777609" cy="520898"/>
          </a:xfrm>
          <a:prstGeom prst="roundRect">
            <a:avLst>
              <a:gd name="adj" fmla="val 8736"/>
            </a:avLst>
          </a:prstGeom>
          <a:solidFill>
            <a:srgbClr val="3D3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561409" y="4968240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4476393" y="5528191"/>
            <a:ext cx="2430423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Cold-Start Bootstrapping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76393" y="6203513"/>
            <a:ext cx="243042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dynamic heuristic rule-engine generates synthetic training labels, eliminating the cold-start problem from day one.</a:t>
            </a:r>
            <a:endParaRPr lang="en-US" sz="13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513" y="1772722"/>
            <a:ext cx="5779532" cy="5779532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13" y="1772722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7685"/>
            <a:ext cx="2029063" cy="300276"/>
          </a:xfrm>
          <a:prstGeom prst="roundRect">
            <a:avLst>
              <a:gd name="adj" fmla="val 1943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427917" y="579715"/>
            <a:ext cx="1820704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DYNAMIC SYSTEM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1063"/>
            <a:ext cx="6919198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Administrator Configuration &amp; UI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34513" y="2450068"/>
            <a:ext cx="2823329" cy="2268617"/>
          </a:xfrm>
          <a:prstGeom prst="roundRect">
            <a:avLst>
              <a:gd name="adj" fmla="val 4837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11653" y="2450068"/>
            <a:ext cx="91440" cy="2268617"/>
          </a:xfrm>
          <a:prstGeom prst="roundRect">
            <a:avLst>
              <a:gd name="adj" fmla="val 79767"/>
            </a:avLst>
          </a:prstGeom>
          <a:solidFill>
            <a:srgbClr val="F2F2F3"/>
          </a:solidFill>
          <a:ln/>
        </p:spPr>
      </p:sp>
      <p:sp>
        <p:nvSpPr>
          <p:cNvPr id="9" name="Text 5"/>
          <p:cNvSpPr/>
          <p:nvPr/>
        </p:nvSpPr>
        <p:spPr>
          <a:xfrm>
            <a:off x="7799546" y="2646521"/>
            <a:ext cx="2361843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Dynamic Configuration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99546" y="3321844"/>
            <a:ext cx="236184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Admins build and stack custom scoring profiles on the fly — no engineering deployment required.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490716" y="2450068"/>
            <a:ext cx="2823329" cy="2268617"/>
          </a:xfrm>
          <a:prstGeom prst="roundRect">
            <a:avLst>
              <a:gd name="adj" fmla="val 4837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67856" y="2450068"/>
            <a:ext cx="91440" cy="2268617"/>
          </a:xfrm>
          <a:prstGeom prst="roundRect">
            <a:avLst>
              <a:gd name="adj" fmla="val 79767"/>
            </a:avLst>
          </a:prstGeom>
          <a:solidFill>
            <a:srgbClr val="F2F2F3"/>
          </a:solidFill>
          <a:ln/>
        </p:spPr>
      </p:sp>
      <p:sp>
        <p:nvSpPr>
          <p:cNvPr id="13" name="Text 9"/>
          <p:cNvSpPr/>
          <p:nvPr/>
        </p:nvSpPr>
        <p:spPr>
          <a:xfrm>
            <a:off x="10755749" y="264652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Strict Validation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0755749" y="3050619"/>
            <a:ext cx="2361843" cy="147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End-to-end security architecture ensures ML urgency weights are hard-capped between 1 and 20, preventing runaway prioritisation.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534513" y="4851559"/>
            <a:ext cx="2823329" cy="2023348"/>
          </a:xfrm>
          <a:prstGeom prst="roundRect">
            <a:avLst>
              <a:gd name="adj" fmla="val 542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11653" y="4851559"/>
            <a:ext cx="91440" cy="2023348"/>
          </a:xfrm>
          <a:prstGeom prst="roundRect">
            <a:avLst>
              <a:gd name="adj" fmla="val 79767"/>
            </a:avLst>
          </a:prstGeom>
          <a:solidFill>
            <a:srgbClr val="F2F2F3"/>
          </a:solidFill>
          <a:ln/>
        </p:spPr>
      </p:sp>
      <p:sp>
        <p:nvSpPr>
          <p:cNvPr id="17" name="Text 13"/>
          <p:cNvSpPr/>
          <p:nvPr/>
        </p:nvSpPr>
        <p:spPr>
          <a:xfrm>
            <a:off x="7799546" y="504801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3-Way Telemetry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799546" y="5452110"/>
            <a:ext cx="2361843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Interactive dashboards partition system health by US, India, and International queues — simultaneously and in real time.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10490716" y="4851559"/>
            <a:ext cx="2823329" cy="2023348"/>
          </a:xfrm>
          <a:prstGeom prst="roundRect">
            <a:avLst>
              <a:gd name="adj" fmla="val 542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467856" y="4851559"/>
            <a:ext cx="91440" cy="2023348"/>
          </a:xfrm>
          <a:prstGeom prst="roundRect">
            <a:avLst>
              <a:gd name="adj" fmla="val 79767"/>
            </a:avLst>
          </a:prstGeom>
          <a:solidFill>
            <a:srgbClr val="F2F2F3"/>
          </a:solidFill>
          <a:ln/>
        </p:spPr>
      </p:sp>
      <p:sp>
        <p:nvSpPr>
          <p:cNvPr id="21" name="Text 17"/>
          <p:cNvSpPr/>
          <p:nvPr/>
        </p:nvSpPr>
        <p:spPr>
          <a:xfrm>
            <a:off x="10755749" y="504801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Native Reporting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10755749" y="5452110"/>
            <a:ext cx="236184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One-click generation of structured, formatted PDF docket reports for administrative record-keeping.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794742"/>
            <a:ext cx="2847856" cy="399812"/>
          </a:xfrm>
          <a:prstGeom prst="roundRect">
            <a:avLst>
              <a:gd name="adj" fmla="val 18169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86301" y="859512"/>
            <a:ext cx="258853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EXPECTED OUTCOMES &amp; IMPACT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6642" y="1276945"/>
            <a:ext cx="8416647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Modernising the Justice System</a:t>
            </a:r>
            <a:endParaRPr lang="en-US" sz="4250" dirty="0"/>
          </a:p>
        </p:txBody>
      </p:sp>
      <p:sp>
        <p:nvSpPr>
          <p:cNvPr id="5" name="Shape 3"/>
          <p:cNvSpPr/>
          <p:nvPr/>
        </p:nvSpPr>
        <p:spPr>
          <a:xfrm>
            <a:off x="756642" y="2261711"/>
            <a:ext cx="6455569" cy="1922145"/>
          </a:xfrm>
          <a:prstGeom prst="roundRect">
            <a:avLst>
              <a:gd name="adj" fmla="val 472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0361" y="2485430"/>
            <a:ext cx="27905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⚡</a:t>
            </a:r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Millisecond Triage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0361" y="2946797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Cases are scored and ranked in milliseconds — eliminating the weeks-long backlog that delays critical judicial interventions.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18189" y="2261711"/>
            <a:ext cx="6455569" cy="1922145"/>
          </a:xfrm>
          <a:prstGeom prst="roundRect">
            <a:avLst>
              <a:gd name="adj" fmla="val 472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1908" y="2485430"/>
            <a:ext cx="335601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🔍</a:t>
            </a:r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Judicial Trust via SHAP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41908" y="2946797"/>
            <a:ext cx="60081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explainability ensures judges and administrators understand every AI decision. Humans remain the final authority.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6642" y="4389834"/>
            <a:ext cx="6455569" cy="1584365"/>
          </a:xfrm>
          <a:prstGeom prst="roundRect">
            <a:avLst>
              <a:gd name="adj" fmla="val 573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0361" y="4613553"/>
            <a:ext cx="31374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📊</a:t>
            </a:r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Data-Driven Staffing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0361" y="5074920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Live regional analytics allow court administrators to surgically deploy judges to jurisdictions experiencing sudden case spikes.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18189" y="4389834"/>
            <a:ext cx="6455569" cy="1584365"/>
          </a:xfrm>
          <a:prstGeom prst="roundRect">
            <a:avLst>
              <a:gd name="adj" fmla="val 573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1908" y="4613553"/>
            <a:ext cx="367915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🗂️</a:t>
            </a:r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Reduced Clerk Workload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641908" y="5074920"/>
            <a:ext cx="60081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precedent pre-fetching eliminates hours of manual legal research per filing — freeing clerks for higher-value tasks.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56642" y="6206014"/>
            <a:ext cx="13117116" cy="1228844"/>
          </a:xfrm>
          <a:prstGeom prst="roundRect">
            <a:avLst>
              <a:gd name="adj" fmla="val 7389"/>
            </a:avLst>
          </a:prstGeom>
          <a:solidFill>
            <a:srgbClr val="25252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741" y="6523077"/>
            <a:ext cx="270153" cy="2160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58992" y="6465927"/>
            <a:ext cx="1219866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CaseTriage is not a replacement for judicial judgment — it is a force multiplier that ensures no urgent case is ever buried under administrative delay.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2026-04-13T09:17:35Z</dcterms:created>
  <dcterms:modified xsi:type="dcterms:W3CDTF">2026-04-13T09:17:35Z</dcterms:modified>
</cp:coreProperties>
</file>